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Reports</c:v>
                </c:pt>
              </c:strCache>
            </c:strRef>
          </c:tx>
          <c:spPr>
            <a:solidFill>
              <a:srgbClr val="6E5F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Jamtara</c:v>
                  </c:pt>
                  <c:pt idx="1">
                    <c:v>Mewat</c:v>
                  </c:pt>
                  <c:pt idx="2">
                    <c:v>Bharatpur</c:v>
                  </c:pt>
                  <c:pt idx="3">
                    <c:v>Ahmedabad</c:v>
                  </c:pt>
                  <c:pt idx="4">
                    <c:v>Bengaluru</c:v>
                  </c:pt>
                  <c:pt idx="5">
                    <c:v>Delhi NCR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412</c:v>
                </c:pt>
                <c:pt idx="1">
                  <c:v>356</c:v>
                </c:pt>
                <c:pt idx="2">
                  <c:v>298</c:v>
                </c:pt>
                <c:pt idx="3">
                  <c:v>210</c:v>
                </c:pt>
                <c:pt idx="4">
                  <c:v>188</c:v>
                </c:pt>
                <c:pt idx="5">
                  <c:v>176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230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 /  PUBLIC SAFETY  /  DIGITAL TRUST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Fraud Shield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Public Safety Intelligence platform that detects, disrupts, and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digital-arrest scams, fraud networks, and counterfeit currency.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2011680" cy="0"/>
          </a:xfrm>
          <a:prstGeom prst="line">
            <a:avLst/>
          </a:prstGeom>
          <a:noFill/>
          <a:ln w="25400">
            <a:solidFill>
              <a:srgbClr val="1FB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·  MERN + Trained NLP Classifier  ·  github.com/soham53crtl/fraud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fraud is scaling faster than manual investigation can follow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complaints filed in India in 2023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19659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7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increase in complaints, 2022 → 2023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9659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3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₹1,776 Cr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12480" y="2834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'digital arrest' scams in just 9 months of 2024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run industrialised, cross-border operations — spoofed numbers, AI-generated voices, and fake government portals — while enforcement typically only sees the case after mass victimisation. Counterfeit currency (FICN) faces the same gap: RBI's 2025 report flags high-denomination fakes clearing routine manual checks.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detection needs to move from the point of complaint to the point of contact — before money moves.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modules, one platform — covering the full 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E7A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 Detection &amp; Alerting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regex + trained Naive Bayes NLP classifier scores messages/calls in real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457200" cy="457200"/>
          </a:xfrm>
          <a:prstGeom prst="ellipse">
            <a:avLst/>
          </a:prstGeom>
          <a:solidFill>
            <a:srgbClr val="6E5FD6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Network Graph Intelligence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phones, accounts, UPI IDs and victims into investigable, court-referenceable rings.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2E9B6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 (multi-channel)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portal for SMS / WhatsApp / email / URL / notice evidence → instant AI verdict + filed report.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C97A1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Crime Pattern Intelligence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of complaint hotspots for patrol prioritisation and inter-district sharing.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C6354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Currency Identification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RBI security-feature verification for field officers and bank tellers.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examples map directly to the brief's “What You May Build” list — all five are implemented and running.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MERN stack, real-time alerts, role-based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0E7A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Officer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React 19 + Vite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78308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0E7A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9476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context, live map,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force-directed graph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66560" y="178308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6E5F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role-based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rate limiting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75520" y="178308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6E5F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1268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1268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fraud-alert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officers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324612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97A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9476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bag-of-words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classifier, 5 categories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324612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2E9B6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Complaints,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FraudEntity, Connection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875520" y="324612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2E9B6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1268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1268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hotspot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03120" y="47091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E5F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4028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/graph/overview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4028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network for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dashboard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94960" y="47091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A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3212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/reports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 complaint,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AI verdict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0" y="470916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A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823960" y="4800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/ai/analyze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23960" y="5120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Detector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quick-check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737360" y="2286000"/>
            <a:ext cx="192024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35040" y="2286000"/>
            <a:ext cx="73152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44000" y="2286000"/>
            <a:ext cx="731520" cy="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955280" y="2788920"/>
            <a:ext cx="0" cy="45720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846320" y="2788920"/>
            <a:ext cx="0" cy="45720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972800" y="2788920"/>
            <a:ext cx="0" cy="45720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566160" y="4206240"/>
            <a:ext cx="91440" cy="50292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858000" y="4206240"/>
            <a:ext cx="0" cy="50292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149840" y="4206240"/>
            <a:ext cx="365760" cy="502920"/>
          </a:xfrm>
          <a:prstGeom prst="line">
            <a:avLst/>
          </a:prstGeom>
          <a:noFill/>
          <a:ln w="1905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investigator-facing routes (graph, analytics) require police_officer / cyber_analyst / admin role — citizens only see their own submissions.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the judging rubric, not just the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— frontend SPA, 7 tabs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REST API, JWT auth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cloud document store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— real-time officer alert push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(custom) — trained NLP classifier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 — geospatial layer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— analytics dashboards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test runner — 9 automated tests, 100% pass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0" y="17373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ALIGNMENT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03120"/>
          <a:ext cx="5577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</a:rPr>
                        <a:t>Innovation (25%)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8"/>
                          </a:solidFill>
                        </a:rPr>
                        <a:t>Hybrid regex + trained NB model; 5 modules from one brief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</a:rPr>
                        <a:t>Business Impact (25%)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8"/>
                          </a:solidFill>
                        </a:rPr>
                        <a:t>Direct 1930 / cybercrime.gov.in integration path; RBI-aligned checks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</a:rPr>
                        <a:t>Technical Excellence (20%)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8"/>
                          </a:solidFill>
                        </a:rPr>
                        <a:t>JWT + RBAC, rate limiting, automated tests, clean REST API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</a:rPr>
                        <a:t>Scalability (15%)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8"/>
                          </a:solidFill>
                        </a:rPr>
                        <a:t>Stateless API, MongoDB Atlas, Socket.IO room-based fan-out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430"/>
                          </a:solidFill>
                        </a:rPr>
                        <a:t>User Experience (15%)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478"/>
                          </a:solidFill>
                        </a:rPr>
                        <a:t>Graceful offline fallback, live-status banners, one-click demo login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Arrest Scam Detection &amp; Alerting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SCORES A MESSAGE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signal library flags explainable phrases (“digital arrest”, “CBI”, “stay on this call”, OTP/CVV requests) — each with a weighted score.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Bayes model (trained on 30+ labelled examples across 5 categories) independently classifies the category and gives a probability-based confidence.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blends both: 65% explainable regex evidence + 35% model confidence — keeping the citizen-facing “why was this flagged” panel fully explainable.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(LOW / GUARDED / ELEVATED / CRITICAL) drives recommended actions and, for officers, a live Socket.IO alert push.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040880" y="1783080"/>
            <a:ext cx="4526280" cy="4343400"/>
          </a:xfrm>
          <a:prstGeom prst="roundRect">
            <a:avLst>
              <a:gd name="adj" fmla="val 1684"/>
            </a:avLst>
          </a:prstGeom>
          <a:solidFill>
            <a:srgbClr val="0A0E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VERDICT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2331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Officer Sharma from CBI… stay on this video call… pay a refundable verification fee…”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32004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63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31520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BAND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0" y="3246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Digital Arrest Scam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91%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Multinomial Naive Bayes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4892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E9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End call immediately, never pay, call 1930.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+ 04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Network Graph &amp; Geospatial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NETWORK GRAPH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Victims, phone numbers, bank accounts, UPI IDs, wallets and IPs modelled as a graph.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force-directed layout, click any node for full connection detail.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entities / 15 connections seeded from real fraud-ring patterns — exportable as a court-referenceable intelligence package.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53035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4663440"/>
            <a:ext cx="1005840" cy="36576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4572000"/>
            <a:ext cx="1005840" cy="45720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4572000"/>
            <a:ext cx="914400" cy="54864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4709160"/>
            <a:ext cx="914400" cy="41148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5029200"/>
            <a:ext cx="457200" cy="64008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5120640"/>
            <a:ext cx="457200" cy="64008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4562856"/>
            <a:ext cx="201168" cy="201168"/>
          </a:xfrm>
          <a:prstGeom prst="ellipse">
            <a:avLst/>
          </a:prstGeom>
          <a:solidFill>
            <a:srgbClr val="0E7A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4928616"/>
            <a:ext cx="201168" cy="201168"/>
          </a:xfrm>
          <a:prstGeom prst="ellipse">
            <a:avLst/>
          </a:prstGeom>
          <a:solidFill>
            <a:srgbClr val="C97A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9816" y="4471416"/>
            <a:ext cx="201168" cy="201168"/>
          </a:xfrm>
          <a:prstGeom prst="ellipse">
            <a:avLst/>
          </a:prstGeom>
          <a:solidFill>
            <a:srgbClr val="C6354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14216" y="5020056"/>
            <a:ext cx="201168" cy="201168"/>
          </a:xfrm>
          <a:prstGeom prst="ellipse">
            <a:avLst/>
          </a:prstGeom>
          <a:solidFill>
            <a:srgbClr val="6E5F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28616" y="4608576"/>
            <a:ext cx="201168" cy="201168"/>
          </a:xfrm>
          <a:prstGeom prst="ellipse">
            <a:avLst/>
          </a:prstGeom>
          <a:solidFill>
            <a:srgbClr val="2E9B6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1176" y="5568696"/>
            <a:ext cx="201168" cy="201168"/>
          </a:xfrm>
          <a:prstGeom prst="ellipse">
            <a:avLst/>
          </a:prstGeom>
          <a:solidFill>
            <a:srgbClr val="0E7A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7016" y="5660136"/>
            <a:ext cx="201168" cy="201168"/>
          </a:xfrm>
          <a:prstGeom prst="ellipse">
            <a:avLst/>
          </a:prstGeom>
          <a:solidFill>
            <a:srgbClr val="C97A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8978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render of the live force-directed graph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HOTSPOTS</a:t>
            </a:r>
            <a:endParaRPr lang="en-US" sz="12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309360" y="210312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 Currency Identification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RBI security-feature verification tool for field officers and bank tellers — built as a transparent checklist expert system rather than an unvalidated image classifier, so every verdict is traceable to a specific, real security feature.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916936"/>
            <a:ext cx="256032" cy="256032"/>
          </a:xfrm>
          <a:prstGeom prst="ellipse">
            <a:avLst/>
          </a:prstGeom>
          <a:solidFill>
            <a:srgbClr val="2E9B6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Mahatma Gandhi watermark visible when held to light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82512" y="2916936"/>
            <a:ext cx="256032" cy="256032"/>
          </a:xfrm>
          <a:prstGeom prst="ellipse">
            <a:avLst/>
          </a:prstGeom>
          <a:solidFill>
            <a:srgbClr val="2E9B6C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thread present and colour-shifts when tilted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694176"/>
            <a:ext cx="256032" cy="256032"/>
          </a:xfrm>
          <a:prstGeom prst="ellipse">
            <a:avLst/>
          </a:prstGeom>
          <a:solidFill>
            <a:srgbClr val="2E9B6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520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 text sharp and legible under magnification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3694176"/>
            <a:ext cx="256032" cy="256032"/>
          </a:xfrm>
          <a:prstGeom prst="ellipse">
            <a:avLst/>
          </a:prstGeom>
          <a:solidFill>
            <a:srgbClr val="2E9B6C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3520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image visible only at an angle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471416"/>
            <a:ext cx="256032" cy="256032"/>
          </a:xfrm>
          <a:prstGeom prst="ellipse">
            <a:avLst/>
          </a:prstGeom>
          <a:solidFill>
            <a:srgbClr val="2E9B6C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2976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fluoresces correctly under UV light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29768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4471416"/>
            <a:ext cx="256032" cy="256032"/>
          </a:xfrm>
          <a:prstGeom prst="ellipse">
            <a:avLst/>
          </a:prstGeom>
          <a:solidFill>
            <a:srgbClr val="2E9B6C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42976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number font increases left-to-right, evenly aligned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“No” or “Unsure” answer contributes a weighted score → LOW / GUARDED / ELEVATED / CRITICAL verdict + a downloadable report, mirroring the Scam Detector's UX for consistency.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today, deployable on the brief's own terms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modules implemented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9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8328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1792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live on the hotspot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5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65/35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05256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Explainable-regex vs. trained-model score blend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Cell pilots the officer dashboard — live graph + geo map + real-time alerts.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fraud-risk teams pilot the Counterfeit Check on teller terminals.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Portal integrates with NCRB / cybercrime.gov.in as an intake front-end.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520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NOTES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8404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Express API — horizontally scalable behind a load balancer.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managed cluster — sharding-ready as complaint volume grows.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room-based fan-out — adds a Redis adapter for multi-instance scale with no client-side changes.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prototype to pilot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151E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83464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 5 modules, trained NB classifier, live demo, automated tests.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21488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151E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Pilot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84448" y="283464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Cell pilot for graph intelligence + real-time alerting; expand training data with anonymised real complaints.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1488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151E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Integrate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27648" y="283464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Bank/RBI integration for counterfeit checks; NCRB intake API for the Citizen Portal.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21488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151E2E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0848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70848" y="283464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12 regional languages, IVR channel, Redis-backed real-time layer.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github.com/soham53crtl/fraud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2026-07-21T18:38:56Z</dcterms:created>
  <dcterms:modified xsi:type="dcterms:W3CDTF">2026-07-21T18:38:56Z</dcterms:modified>
</cp:coreProperties>
</file>